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37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(~10s) Hi, I'm [Name], student ID [XXXXXXX], CDU Sydney. This is my part of the group's Objective 1 and Objective 2 analysis on the FIFA World Cup 2026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(~20s) All six analyses share one wrangling-sampling-testing pipeline on the CC0 FIFA World Cup 2026 dataset — four hypothesis tests and two pre-match regression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(~25s) These are the exact six questions solved in the notebook: four hypothesis tests on player and match data, and two regressions predicting match outcomes from pre-match information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(~25s) Of the four Objective 1 tests, only possession vs match outcome came back significant. The other three — market value, caps, age — showed no significant difference, which is still a valid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(~30s) Winning teams averaged 55.3% possession vs 43.3% for losing teams — a statistically significant gap with p under 0.0001. This is the strongest, most defensible finding in Objective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(~30s) Both regressions used only pre-match features. Goal difference reached a cross-validated R² of about 0.33; team goals about 0.16 — modest but honest, since football outcomes are inherently noisy.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(~25s) In short: one honest significant finding, two realistic regression models, and full reproducibility from one CC0-licensed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(~5s)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561320" y="-1417320"/>
            <a:ext cx="3200400" cy="3200400"/>
          </a:xfrm>
          <a:prstGeom prst="rect">
            <a:avLst/>
          </a:prstGeom>
          <a:solidFill>
            <a:srgbClr val="5B2A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46920" y="1463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48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60" dirty="0">
                <a:solidFill>
                  <a:srgbClr val="C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DATA SCIENCE PROJECT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&amp; Objective 2 — Key Findings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2743200" cy="0"/>
          </a:xfrm>
          <a:prstGeom prst="line">
            <a:avLst/>
          </a:prstGeom>
          <a:noFill/>
          <a:ln w="31750">
            <a:solidFill>
              <a:srgbClr val="C992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— 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Shahriar Islam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78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 — 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S400228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5171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 —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89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— Group Project Presentation  ·  Data source: CC0 FIFA World Cup 2026 dataset (GitHub)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561320" y="-1417320"/>
            <a:ext cx="3200400" cy="3200400"/>
          </a:xfrm>
          <a:prstGeom prst="rect">
            <a:avLst/>
          </a:prstGeom>
          <a:solidFill>
            <a:srgbClr val="3D1F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46920" y="1463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26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5486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B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Approach &amp; Data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280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analyses, one CC0-licensed public dataset: four hypothesis tests (Objective 1) and two pre-match linear regression models (Objective 2). Every sample uses a fixed seed (random_state = 42) for full reproducibility.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86000"/>
          <a:ext cx="10881360" cy="268833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value — FWD vs DEF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Two-sample t-test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 — UEFA vs benchmark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One-sample t-test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Possession — Win vs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Two-sample t-test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— GK vs Outfield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Two-sample t-test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— Goal difference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OLS, 8 pre-match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— Team goals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OLS, 8 pre-match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0292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teams (48×8), players (1248×10), matches (104×17), team-match stats (208×12).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561320" y="-1417320"/>
            <a:ext cx="3200400" cy="3200400"/>
          </a:xfrm>
          <a:prstGeom prst="rect">
            <a:avLst/>
          </a:prstGeom>
          <a:solidFill>
            <a:srgbClr val="3D1F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46920" y="1463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19688" y="5907024"/>
            <a:ext cx="329184" cy="329184"/>
          </a:xfrm>
          <a:prstGeom prst="ellipse">
            <a:avLst/>
          </a:prstGeom>
          <a:solidFill>
            <a:srgbClr val="C9C3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26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NOTEBOOK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5486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B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Six Questions We Answered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02920" y="1353312"/>
            <a:ext cx="5440680" cy="1152144"/>
          </a:xfrm>
          <a:prstGeom prst="roundRect">
            <a:avLst>
              <a:gd name="adj" fmla="val 6349"/>
            </a:avLst>
          </a:prstGeom>
          <a:solidFill>
            <a:srgbClr val="F1EC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1517904"/>
            <a:ext cx="384048" cy="38404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79576" y="1453896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do forwards (FWD) have a significantly different market value than defenders (DEF)?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79576" y="22128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615184"/>
            <a:ext cx="5440680" cy="1152144"/>
          </a:xfrm>
          <a:prstGeom prst="roundRect">
            <a:avLst>
              <a:gd name="adj" fmla="val 6349"/>
            </a:avLst>
          </a:prstGeom>
          <a:solidFill>
            <a:srgbClr val="F1EC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2779776"/>
            <a:ext cx="384048" cy="38404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79576" y="2715768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UEFA (European) players average significantly more international caps than the non-UEFA benchmark?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79576" y="34747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ONE-SAMPLE T-TEST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877056"/>
            <a:ext cx="5440680" cy="1152144"/>
          </a:xfrm>
          <a:prstGeom prst="roundRect">
            <a:avLst>
              <a:gd name="adj" fmla="val 6349"/>
            </a:avLst>
          </a:prstGeom>
          <a:solidFill>
            <a:srgbClr val="F1ECF9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512" y="4041648"/>
            <a:ext cx="384048" cy="38404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79576" y="3977640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teams that won their match have significantly higher ball possession than teams that lost?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79576" y="47365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5138928"/>
            <a:ext cx="5440680" cy="1152144"/>
          </a:xfrm>
          <a:prstGeom prst="roundRect">
            <a:avLst>
              <a:gd name="adj" fmla="val 6349"/>
            </a:avLst>
          </a:prstGeom>
          <a:solidFill>
            <a:srgbClr val="F1ECF9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" y="5303520"/>
            <a:ext cx="384048" cy="38404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7512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79576" y="5239512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goalkeepers significantly older, on average, than outfield players?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79576" y="59984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1353312"/>
            <a:ext cx="5532120" cy="1152144"/>
          </a:xfrm>
          <a:prstGeom prst="roundRect">
            <a:avLst>
              <a:gd name="adj" fmla="val 6349"/>
            </a:avLst>
          </a:prstGeom>
          <a:solidFill>
            <a:srgbClr val="F1ECF9"/>
          </a:solidFill>
          <a:ln/>
        </p:spPr>
      </p:sp>
      <p:sp>
        <p:nvSpPr>
          <p:cNvPr id="32" name="Shape 30"/>
          <p:cNvSpPr/>
          <p:nvPr/>
        </p:nvSpPr>
        <p:spPr>
          <a:xfrm>
            <a:off x="6336792" y="1517904"/>
            <a:ext cx="384048" cy="384048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36792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48856" y="1453896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match's goal difference be predicted from 8 pre-match-only variables (rankings, squad value, host status, stage)?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848856" y="22128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2615184"/>
            <a:ext cx="5532120" cy="1152144"/>
          </a:xfrm>
          <a:prstGeom prst="roundRect">
            <a:avLst>
              <a:gd name="adj" fmla="val 6349"/>
            </a:avLst>
          </a:prstGeom>
          <a:solidFill>
            <a:srgbClr val="F1ECF9"/>
          </a:solidFill>
          <a:ln/>
        </p:spPr>
      </p:sp>
      <p:sp>
        <p:nvSpPr>
          <p:cNvPr id="37" name="Shape 35"/>
          <p:cNvSpPr/>
          <p:nvPr/>
        </p:nvSpPr>
        <p:spPr>
          <a:xfrm>
            <a:off x="6336792" y="2779776"/>
            <a:ext cx="384048" cy="384048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36792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48856" y="2715768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team's goals scored in a match be predicted from 8 pre-match-only variables?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848856" y="34747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3877056"/>
            <a:ext cx="5532120" cy="2414016"/>
          </a:xfrm>
          <a:prstGeom prst="roundRect">
            <a:avLst>
              <a:gd name="adj" fmla="val 3030"/>
            </a:avLst>
          </a:prstGeom>
          <a:solidFill>
            <a:srgbClr val="FBF6E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0" y="3877056"/>
            <a:ext cx="512064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used in Objective 2 is known before kickoff — no in-match data (shots, possession, cards) ever enters the regression.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561320" y="-1417320"/>
            <a:ext cx="3200400" cy="3200400"/>
          </a:xfrm>
          <a:prstGeom prst="rect">
            <a:avLst/>
          </a:prstGeom>
          <a:solidFill>
            <a:srgbClr val="3D1F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46920" y="1463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26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— RESULTS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5486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B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Four Hypothesis Tests, One Real Signal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6492240" cy="2514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value: FWD vs DEF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0.3356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UEFA caps vs benchmark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0.2304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Possession: Win vs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GK age vs outfield 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1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0.3503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223760" y="1371600"/>
            <a:ext cx="4434840" cy="2148840"/>
          </a:xfrm>
          <a:prstGeom prst="roundRect">
            <a:avLst>
              <a:gd name="adj" fmla="val 3404"/>
            </a:avLst>
          </a:prstGeom>
          <a:solidFill>
            <a:srgbClr val="E4F5E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34072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SIGNIFICANT RESULT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434072" y="187452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possession vs match outcome — was the only rejected H0. A well-formed question doesn't guarantee significance, and that's honest science.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38862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 (unequal variances) was used throughout, since none of the compared groups had equal variances.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One-tailed tests were used only where domain knowledge gave a specific expected direction (Tasks 3 &amp; 4).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561320" y="-1417320"/>
            <a:ext cx="3200400" cy="3200400"/>
          </a:xfrm>
          <a:prstGeom prst="rect">
            <a:avLst/>
          </a:prstGeom>
          <a:solidFill>
            <a:srgbClr val="3D1F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46920" y="1463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26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 — TASK 3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5486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B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Possession Wins Matches</a:t>
            </a:r>
            <a:endParaRPr lang="en-US" sz="2500" dirty="0"/>
          </a:p>
        </p:txBody>
      </p:sp>
      <p:pic>
        <p:nvPicPr>
          <p:cNvPr id="11" name="Image 0" descr="/tmp/pptx_build2/charts/t3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5349240" cy="35661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89320" y="1325880"/>
            <a:ext cx="5532120" cy="868680"/>
          </a:xfrm>
          <a:prstGeom prst="roundRect">
            <a:avLst>
              <a:gd name="adj" fmla="val 8421"/>
            </a:avLst>
          </a:prstGeom>
          <a:solidFill>
            <a:srgbClr val="D9F3F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53912" y="1399032"/>
            <a:ext cx="5202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WELCH T-TEST (ONE-TAILED)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153912" y="1636776"/>
            <a:ext cx="5202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4.400      p &lt; 0.0001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23774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teams: 55.27% possession (n = 30) vs losing teams: 43.27% (n = 30)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for winners' mean possession: 51.33% – 59.21%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μWin &gt; μLoss — winning teams have higher mean possession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425196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4F5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8932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H0 — SIGNIFICANT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4892040"/>
            <a:ext cx="11018520" cy="0"/>
          </a:xfrm>
          <a:prstGeom prst="line">
            <a:avLst/>
          </a:prstGeom>
          <a:noFill/>
          <a:ln w="12700">
            <a:solidFill>
              <a:srgbClr val="DCD7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5074920"/>
            <a:ext cx="11018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3D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4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teams averaged 12.0 possession points more than losing teams — the one Objective 1 result with statistically significant evidence.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561320" y="-1417320"/>
            <a:ext cx="3200400" cy="3200400"/>
          </a:xfrm>
          <a:prstGeom prst="rect">
            <a:avLst/>
          </a:prstGeom>
          <a:solidFill>
            <a:srgbClr val="3D1F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46920" y="1463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26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— REGRESSION MODELS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5486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B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Predicting Outcomes From Pre-Match Data Only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2801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use only information known before kickoff — Elo/FIFA rankings, squad value, caps, age, host status, and stage. Never anything derived from in-match events.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196596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F1EC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1214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2.1 — Goal Difference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4505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104 · 8 pre-match features · 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88920"/>
            <a:ext cx="4892040" cy="960120"/>
          </a:xfrm>
          <a:prstGeom prst="roundRect">
            <a:avLst>
              <a:gd name="adj" fmla="val 6667"/>
            </a:avLst>
          </a:prstGeom>
          <a:solidFill>
            <a:srgbClr val="D9F3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288950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E5C58"/>
                </a:solidFill>
              </a:rPr>
              <a:t>R² = 0.491</a:t>
            </a:r>
            <a:endParaRPr lang="en-US" sz="1900" dirty="0"/>
          </a:p>
          <a:p>
            <a:pPr marL="0" indent="0">
              <a:buNone/>
            </a:pPr>
            <a:r>
              <a:rPr lang="en-US" sz="1200" dirty="0">
                <a:solidFill>
                  <a:srgbClr val="0E5C58"/>
                </a:solidFill>
              </a:rPr>
              <a:t>Adjusted R² = 0.448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913632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R² = 0.328 · MAE = 1.23 goals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predictor: elo_diff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96596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F1EC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21214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2.2 — Team Goals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4505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208 · 8 pre-match features · 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788920"/>
            <a:ext cx="4892040" cy="960120"/>
          </a:xfrm>
          <a:prstGeom prst="roundRect">
            <a:avLst>
              <a:gd name="adj" fmla="val 6667"/>
            </a:avLst>
          </a:prstGeom>
          <a:solidFill>
            <a:srgbClr val="D9F3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64808" y="288950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E5C58"/>
                </a:solidFill>
              </a:rPr>
              <a:t>R² = 0.268</a:t>
            </a:r>
            <a:endParaRPr lang="en-US" sz="1900" dirty="0"/>
          </a:p>
          <a:p>
            <a:pPr marL="0" indent="0">
              <a:buNone/>
            </a:pPr>
            <a:r>
              <a:rPr lang="en-US" sz="1200" dirty="0">
                <a:solidFill>
                  <a:srgbClr val="0E5C58"/>
                </a:solidFill>
              </a:rPr>
              <a:t>Adjusted R² = 0.239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913632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R² = 0.163 · MAE = 0.95 goals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predictor: opponent_elo_rating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R² is realistically modest — sporting outcomes are genuinely uncertain, and this model never leaks in-match information.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561320" y="-1417320"/>
            <a:ext cx="3200400" cy="3200400"/>
          </a:xfrm>
          <a:prstGeom prst="rect">
            <a:avLst/>
          </a:prstGeom>
          <a:solidFill>
            <a:srgbClr val="3D1F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46920" y="1463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65471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Limitations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371600"/>
            <a:ext cx="10881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four Objective 1 hypotheses, only possession vs match outcome was statistically significant — a legitimate, honest mixed result.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Objective 2 models achieved a moderate, defensible fit using only pre-match information (goal difference CV R² ≈ 0.33; team goals CV R² ≈ 0.16).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samples of 30–50 per group cannot capture every outlier; single-match goals are a noisy, discrete outcome that a linear model can only approximate.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1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561320" y="-1417320"/>
            <a:ext cx="3200400" cy="3200400"/>
          </a:xfrm>
          <a:prstGeom prst="rect">
            <a:avLst/>
          </a:prstGeom>
          <a:solidFill>
            <a:srgbClr val="5B2A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46920" y="1463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43400"/>
            <a:ext cx="2743200" cy="0"/>
          </a:xfrm>
          <a:prstGeom prst="line">
            <a:avLst/>
          </a:prstGeom>
          <a:noFill/>
          <a:ln w="31750">
            <a:solidFill>
              <a:srgbClr val="C992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89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Objective 1 &amp; Objective 2  ·  Assessment 2 — Group Project Presentation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1086</Words>
  <Application>Microsoft Office PowerPoint</Application>
  <PresentationFormat>Widescreen</PresentationFormat>
  <Paragraphs>156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Charles Darwin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World Cup 2026 — 2.5-Minute Presentation</dc:title>
  <dc:subject>PptxGenJS Presentation</dc:subject>
  <dc:creator>Md Shahriar Islam</dc:creator>
  <cp:lastModifiedBy>SHAHRIAR</cp:lastModifiedBy>
  <cp:revision>3</cp:revision>
  <dcterms:created xsi:type="dcterms:W3CDTF">2026-09-11T13:51:37Z</dcterms:created>
  <dcterms:modified xsi:type="dcterms:W3CDTF">2026-09-11T14:29:09Z</dcterms:modified>
</cp:coreProperties>
</file>